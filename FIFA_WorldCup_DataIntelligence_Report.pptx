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Goals/Match</c:v>
                </c:pt>
              </c:strCache>
            </c:strRef>
          </c:tx>
          <c:spPr>
            <a:solidFill>
              <a:srgbClr val="7FAE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AE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FAE3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A6B3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A6B3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A6B3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A6B3C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A6B3C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1A6B3C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1A6B3C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1A6B3C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1A6B3C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1A6B3C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1A6B3C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1A6B3C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1A6B3C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1A6B3C"/>
              </a:solidFill>
              <a:effectLst/>
            </c:spPr>
          </c:dPt>
          <c:cat>
            <c:multiLvlStrRef>
              <c:f>Sheet1!$A$2:$A$21</c:f>
              <c:multiLvlStrCache>
                <c:ptCount val="20"/>
                <c:lvl>
                  <c:pt idx="0">
                    <c:v>1930</c:v>
                  </c:pt>
                  <c:pt idx="1">
                    <c:v>1934</c:v>
                  </c:pt>
                  <c:pt idx="2">
                    <c:v>1938</c:v>
                  </c:pt>
                  <c:pt idx="3">
                    <c:v>1950</c:v>
                  </c:pt>
                  <c:pt idx="4">
                    <c:v>1954</c:v>
                  </c:pt>
                  <c:pt idx="5">
                    <c:v>1958</c:v>
                  </c:pt>
                  <c:pt idx="6">
                    <c:v>1962</c:v>
                  </c:pt>
                  <c:pt idx="7">
                    <c:v>1966</c:v>
                  </c:pt>
                  <c:pt idx="8">
                    <c:v>1970</c:v>
                  </c:pt>
                  <c:pt idx="9">
                    <c:v>1974</c:v>
                  </c:pt>
                  <c:pt idx="10">
                    <c:v>1978</c:v>
                  </c:pt>
                  <c:pt idx="11">
                    <c:v>1982</c:v>
                  </c:pt>
                  <c:pt idx="12">
                    <c:v>1986</c:v>
                  </c:pt>
                  <c:pt idx="13">
                    <c:v>1990</c:v>
                  </c:pt>
                  <c:pt idx="14">
                    <c:v>1994</c:v>
                  </c:pt>
                  <c:pt idx="15">
                    <c:v>1998</c:v>
                  </c:pt>
                  <c:pt idx="16">
                    <c:v>2002</c:v>
                  </c:pt>
                  <c:pt idx="17">
                    <c:v>2006</c:v>
                  </c:pt>
                  <c:pt idx="18">
                    <c:v>2010</c:v>
                  </c:pt>
                  <c:pt idx="19">
                    <c:v>2014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3.89</c:v>
                </c:pt>
                <c:pt idx="1">
                  <c:v>4.12</c:v>
                </c:pt>
                <c:pt idx="2">
                  <c:v>4.67</c:v>
                </c:pt>
                <c:pt idx="3">
                  <c:v>4</c:v>
                </c:pt>
                <c:pt idx="4">
                  <c:v>5.38</c:v>
                </c:pt>
                <c:pt idx="5">
                  <c:v>3.6</c:v>
                </c:pt>
                <c:pt idx="6">
                  <c:v>2.78</c:v>
                </c:pt>
                <c:pt idx="7">
                  <c:v>2.78</c:v>
                </c:pt>
                <c:pt idx="8">
                  <c:v>2.97</c:v>
                </c:pt>
                <c:pt idx="9">
                  <c:v>2.55</c:v>
                </c:pt>
                <c:pt idx="10">
                  <c:v>2.68</c:v>
                </c:pt>
                <c:pt idx="11">
                  <c:v>2.81</c:v>
                </c:pt>
                <c:pt idx="12">
                  <c:v>2.54</c:v>
                </c:pt>
                <c:pt idx="13">
                  <c:v>2.21</c:v>
                </c:pt>
                <c:pt idx="14">
                  <c:v>2.71</c:v>
                </c:pt>
                <c:pt idx="15">
                  <c:v>2.67</c:v>
                </c:pt>
                <c:pt idx="16">
                  <c:v>2.52</c:v>
                </c:pt>
                <c:pt idx="17">
                  <c:v>2.3</c:v>
                </c:pt>
                <c:pt idx="18">
                  <c:v>2.27</c:v>
                </c:pt>
                <c:pt idx="19">
                  <c:v>2.58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All-time Goals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8DD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B79D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8878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Brazil</c:v>
                  </c:pt>
                  <c:pt idx="1">
                    <c:v>Argentina</c:v>
                  </c:pt>
                  <c:pt idx="2">
                    <c:v>Germany FR</c:v>
                  </c:pt>
                  <c:pt idx="3">
                    <c:v>Italy</c:v>
                  </c:pt>
                  <c:pt idx="4">
                    <c:v>France</c:v>
                  </c:pt>
                  <c:pt idx="5">
                    <c:v>Germany</c:v>
                  </c:pt>
                  <c:pt idx="6">
                    <c:v>Spain</c:v>
                  </c:pt>
                  <c:pt idx="7">
                    <c:v>Netherlands</c:v>
                  </c:pt>
                  <c:pt idx="8">
                    <c:v>Hungary</c:v>
                  </c:pt>
                  <c:pt idx="9">
                    <c:v>Uruguay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225</c:v>
                </c:pt>
                <c:pt idx="1">
                  <c:v>133</c:v>
                </c:pt>
                <c:pt idx="2">
                  <c:v>131</c:v>
                </c:pt>
                <c:pt idx="3">
                  <c:v>128</c:v>
                </c:pt>
                <c:pt idx="4">
                  <c:v>108</c:v>
                </c:pt>
                <c:pt idx="5">
                  <c:v>104</c:v>
                </c:pt>
                <c:pt idx="6">
                  <c:v>92</c:v>
                </c:pt>
                <c:pt idx="7">
                  <c:v>91</c:v>
                </c:pt>
                <c:pt idx="8">
                  <c:v>87</c:v>
                </c:pt>
                <c:pt idx="9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1E3A24"/>
          </a:solidFill>
          <a:ln w="12700">
            <a:solidFill>
              <a:srgbClr val="1E3A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62B1C"/>
          </a:solidFill>
          <a:ln w="12700">
            <a:solidFill>
              <a:srgbClr val="162B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572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FIFA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CUP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74320" y="3337560"/>
            <a:ext cx="2011680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33375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F12"/>
                </a:solidFill>
              </a:rPr>
              <a:t>1930 — 2014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0" y="91440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Intelligence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206240" y="251460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data analysis project exploring 852 matches,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2,414 goals, and 84 years of World Cup history — built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with Claude AI.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3840480"/>
            <a:ext cx="1097280" cy="777240"/>
          </a:xfrm>
          <a:prstGeom prst="rect">
            <a:avLst/>
          </a:prstGeom>
          <a:solidFill>
            <a:srgbClr val="162B1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38587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06240" y="4187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40680" y="3840480"/>
            <a:ext cx="1097280" cy="777240"/>
          </a:xfrm>
          <a:prstGeom prst="rect">
            <a:avLst/>
          </a:prstGeom>
          <a:solidFill>
            <a:srgbClr val="162B1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38587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40680" y="4187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75120" y="3840480"/>
            <a:ext cx="1097280" cy="777240"/>
          </a:xfrm>
          <a:prstGeom prst="rect">
            <a:avLst/>
          </a:prstGeom>
          <a:solidFill>
            <a:srgbClr val="162B1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38587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2,414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75120" y="4187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909560" y="3840480"/>
            <a:ext cx="1097280" cy="777240"/>
          </a:xfrm>
          <a:prstGeom prst="rect">
            <a:avLst/>
          </a:prstGeom>
          <a:solidFill>
            <a:srgbClr val="162B1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38587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909560" y="4187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06240" y="480060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Claude AI  ·  Data source: FIFA Official Records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12"/>
          </a:solidFill>
          <a:ln w="12700">
            <a:solidFill>
              <a:srgbClr val="0D1F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Data Intelligence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 — and how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606040" cy="2926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54864" cy="2926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916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Exploration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670048"/>
            <a:ext cx="2377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852 match records (1930-2014). Profiled 20 columns: goals, attendance, stages, teams. Identified only 2 missing values in the entire dataset.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554480"/>
            <a:ext cx="2606040" cy="2926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554480"/>
            <a:ext cx="54864" cy="2926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6916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37560" y="2240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Analysis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2670048"/>
            <a:ext cx="2377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hypothesis tests. Home advantage confirmed (chi-sq=220, p&lt;0.0001). Goals declining -2.7%/decade (r=-0.79). Poisson model fit to goal distribution.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554480"/>
            <a:ext cx="2606040" cy="2926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554480"/>
            <a:ext cx="54864" cy="2926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6916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72200" y="2240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&amp; Viz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2670048"/>
            <a:ext cx="2377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4-tab interactive dashboard: Overview, Goals Analysis, Teams, and Statistical Tests — with 6 live charts rendered inside Claude.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663440"/>
            <a:ext cx="8412480" cy="310896"/>
          </a:xfrm>
          <a:prstGeom prst="rect">
            <a:avLst/>
          </a:prstGeom>
          <a:solidFill>
            <a:srgbClr val="EEF7EE"/>
          </a:solidFill>
          <a:ln w="12700">
            <a:solidFill>
              <a:srgbClr val="C8DF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634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Entire workflow — from raw data to dashboard — executed inside Claude AI using natural language commands.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numbers that define 84 years of World Cup football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06040" cy="1508760"/>
          </a:xfrm>
          <a:prstGeom prst="rect">
            <a:avLst/>
          </a:prstGeom>
          <a:solidFill>
            <a:srgbClr val="162B1C"/>
          </a:solidFill>
          <a:ln w="12700">
            <a:solidFill>
              <a:srgbClr val="1E3A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260604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2763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2.83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goals / match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50545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from 4.47 in the 1930s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463040"/>
            <a:ext cx="2606040" cy="1508760"/>
          </a:xfrm>
          <a:prstGeom prst="rect">
            <a:avLst/>
          </a:prstGeom>
          <a:solidFill>
            <a:srgbClr val="162B1C"/>
          </a:solidFill>
          <a:ln w="12700">
            <a:solidFill>
              <a:srgbClr val="1E3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463040"/>
            <a:ext cx="2606040" cy="457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62763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57.3%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37560" y="22128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win rate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250545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220, p &lt; 0.0001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463040"/>
            <a:ext cx="2606040" cy="1508760"/>
          </a:xfrm>
          <a:prstGeom prst="rect">
            <a:avLst/>
          </a:prstGeom>
          <a:solidFill>
            <a:srgbClr val="162B1C"/>
          </a:solidFill>
          <a:ln w="12700">
            <a:solidFill>
              <a:srgbClr val="1E3A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463040"/>
            <a:ext cx="2606040" cy="45720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62763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8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45,165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72200" y="22128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attendance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50545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173,850 in 1950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2606040" cy="1508760"/>
          </a:xfrm>
          <a:prstGeom prst="rect">
            <a:avLst/>
          </a:prstGeom>
          <a:solidFill>
            <a:srgbClr val="162B1C"/>
          </a:solidFill>
          <a:ln w="12700">
            <a:solidFill>
              <a:srgbClr val="1E3A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154680"/>
            <a:ext cx="260604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1927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70.8%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02920" y="39044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win rate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19709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of any team (≥10 matches)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3154680"/>
            <a:ext cx="2606040" cy="1508760"/>
          </a:xfrm>
          <a:prstGeom prst="rect">
            <a:avLst/>
          </a:prstGeom>
          <a:solidFill>
            <a:srgbClr val="162B1C"/>
          </a:solidFill>
          <a:ln w="12700">
            <a:solidFill>
              <a:srgbClr val="1E3A2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154680"/>
            <a:ext cx="2606040" cy="457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31927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225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3337560" y="39044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all-time goals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37560" y="419709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scoring nation ever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3154680"/>
            <a:ext cx="2606040" cy="1508760"/>
          </a:xfrm>
          <a:prstGeom prst="rect">
            <a:avLst/>
          </a:prstGeom>
          <a:solidFill>
            <a:srgbClr val="162B1C"/>
          </a:solidFill>
          <a:ln w="12700">
            <a:solidFill>
              <a:srgbClr val="1E3A2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3154680"/>
            <a:ext cx="260604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31927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172200" y="39044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in one match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72200" y="419709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Austria 7–5 Switzerland, 1954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12"/>
          </a:solidFill>
          <a:ln w="12700">
            <a:solidFill>
              <a:srgbClr val="0D1F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Goals per match — declining for 8 decades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17320"/>
          <a:ext cx="59436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1417320"/>
            <a:ext cx="2377440" cy="10515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92240" y="1417320"/>
            <a:ext cx="54864" cy="10515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29400" y="14904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Era breakdown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629400" y="1746504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1930–54 avg: 4.47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1958–74 avg: 2.93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1978–94 avg: 2.59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1998–14 avg: 2.47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92240" y="2578608"/>
            <a:ext cx="2377440" cy="10515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2578608"/>
            <a:ext cx="54864" cy="10515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29400" y="26517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 test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629400" y="290779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= −0.027 goals/year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−0.790, p = 0.0001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92240" y="3739896"/>
            <a:ext cx="2377440" cy="10515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92240" y="3739896"/>
            <a:ext cx="54864" cy="10515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29400" y="38130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1990 World Cup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629400" y="406908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defensive ever: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2.21 avg goals/match.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 became world champions.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6576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colour coding: gold = 4+ goals  ·  light green = 3+  ·  dark green = &lt;3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12"/>
          </a:solidFill>
          <a:ln w="12700">
            <a:solidFill>
              <a:srgbClr val="0D1F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scorers &amp; win rate leaders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2588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1325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 Rate Leaders (min. 10 matches)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577840" y="1719072"/>
            <a:ext cx="3337560" cy="365760"/>
          </a:xfrm>
          <a:prstGeom prst="rect">
            <a:avLst/>
          </a:prstGeom>
          <a:solidFill>
            <a:srgbClr val="0D1F12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23560" y="175564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675120" y="175564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0" y="175564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138160" y="175564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Win%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577840" y="2103120"/>
            <a:ext cx="3337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23560" y="213969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675120" y="213969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0" y="213969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138160" y="213969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70.8%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77840" y="2487168"/>
            <a:ext cx="3337560" cy="365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23560" y="25237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675120" y="252374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315200" y="252374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138160" y="252374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65.7%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577840" y="2871216"/>
            <a:ext cx="3337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23560" y="290779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FR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675120" y="29077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315200" y="29077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138160" y="29077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58.1%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577840" y="3255264"/>
            <a:ext cx="3337560" cy="365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23560" y="32918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675120" y="329184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315200" y="329184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138160" y="329184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54.3%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577840" y="3639312"/>
            <a:ext cx="3337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23560" y="36758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675120" y="367588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315200" y="367588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8138160" y="367588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54.2%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577840" y="4023360"/>
            <a:ext cx="3337560" cy="365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623560" y="40599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675120" y="405993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315200" y="405993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8138160" y="405993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53.7%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577840" y="4407408"/>
            <a:ext cx="3337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623560" y="444398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Denmark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675120" y="444398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315200" y="444398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8138160" y="444398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FINDINGS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confirmed hypotheses — all statistically significant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206240" cy="1600200"/>
          </a:xfrm>
          <a:prstGeom prst="rect">
            <a:avLst/>
          </a:prstGeom>
          <a:solidFill>
            <a:srgbClr val="162B1C"/>
          </a:solidFill>
          <a:ln w="12700">
            <a:solidFill>
              <a:srgbClr val="1E3A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420624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Advantage is Real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562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χ² = 220.25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560320" y="1874520"/>
            <a:ext cx="960120" cy="23774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87452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203704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57.3% home wins vs 20.4% away wins. The null hypothesis (equal probability) is rejected at every conventional significance level. Playing at home is a massive advantage.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417320"/>
            <a:ext cx="4206240" cy="1600200"/>
          </a:xfrm>
          <a:prstGeom prst="rect">
            <a:avLst/>
          </a:prstGeom>
          <a:solidFill>
            <a:srgbClr val="162B1C"/>
          </a:solidFill>
          <a:ln w="12700">
            <a:solidFill>
              <a:srgbClr val="1E3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417320"/>
            <a:ext cx="420624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508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Goals are Declining Over 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8562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−0.790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040880" y="1874520"/>
            <a:ext cx="960120" cy="23774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187452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0.0001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83480" y="2203704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negative linear trend of −0.027 goals/year. Modern defensive tactics, fitness, and coaching have systematically reduced open play scoring since the 1950s.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4206240" cy="1600200"/>
          </a:xfrm>
          <a:prstGeom prst="rect">
            <a:avLst/>
          </a:prstGeom>
          <a:solidFill>
            <a:srgbClr val="162B1C"/>
          </a:solidFill>
          <a:ln w="12700">
            <a:solidFill>
              <a:srgbClr val="1E3A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154680"/>
            <a:ext cx="420624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Bigger Crowds → Fewer Goals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5935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−0.114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2560320" y="3611880"/>
            <a:ext cx="960120" cy="23774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361188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0.0009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3941064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but significant negative correlation. High-stakes matches (finals, semis) draw larger crowds but tend to be more cautious. The effect is real though modest.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154680"/>
            <a:ext cx="4206240" cy="1600200"/>
          </a:xfrm>
          <a:prstGeom prst="rect">
            <a:avLst/>
          </a:prstGeom>
          <a:solidFill>
            <a:srgbClr val="162B1C"/>
          </a:solidFill>
          <a:ln w="12700">
            <a:solidFill>
              <a:srgbClr val="1E3A2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3154680"/>
            <a:ext cx="420624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Half-Time Predicts Full-Time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35935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0.698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040880" y="3611880"/>
            <a:ext cx="960120" cy="23774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361188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83480" y="3941064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half-time goal total explains 48.7% of variance in final goals (r²=0.487). A high-scoring first half is a strong predictor of a high-scoring match overall.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12"/>
          </a:solidFill>
          <a:ln w="12700">
            <a:solidFill>
              <a:srgbClr val="0D1F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Claude AI workflow — from raw data to dashboard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737360" y="2240280"/>
            <a:ext cx="256032" cy="0"/>
          </a:xfrm>
          <a:prstGeom prst="line">
            <a:avLst/>
          </a:prstGeom>
          <a:noFill/>
          <a:ln w="19050">
            <a:solidFill>
              <a:srgbClr val="BBBBBB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320040" y="1463040"/>
            <a:ext cx="1371600" cy="2468880"/>
          </a:xfrm>
          <a:prstGeom prst="rect">
            <a:avLst/>
          </a:prstGeom>
          <a:solidFill>
            <a:srgbClr val="0D1F12"/>
          </a:solidFill>
          <a:ln w="12700">
            <a:solidFill>
              <a:srgbClr val="1A6B3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5727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2103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" y="2450592"/>
            <a:ext cx="1243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Data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3192" y="2852928"/>
            <a:ext cx="1243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WorldCupMatches.xlsx directly into Claude. No ETL pipeline needed.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56432" y="2240280"/>
            <a:ext cx="256032" cy="0"/>
          </a:xfrm>
          <a:prstGeom prst="line">
            <a:avLst/>
          </a:prstGeom>
          <a:noFill/>
          <a:ln w="19050">
            <a:solidFill>
              <a:srgbClr val="BBBBB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039112" y="1463040"/>
            <a:ext cx="1371600" cy="24688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39112" y="15727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39112" y="2103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12264" y="2450592"/>
            <a:ext cx="1243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/explore-data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12264" y="2852928"/>
            <a:ext cx="1243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profiled shape, dtypes, nulls, distributions — instant.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75504" y="2240280"/>
            <a:ext cx="256032" cy="0"/>
          </a:xfrm>
          <a:prstGeom prst="line">
            <a:avLst/>
          </a:prstGeom>
          <a:noFill/>
          <a:ln w="19050">
            <a:solidFill>
              <a:srgbClr val="BBBBBB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758184" y="1463040"/>
            <a:ext cx="1371600" cy="24688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58184" y="15727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758184" y="2103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31336" y="2450592"/>
            <a:ext cx="1243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/build-dashboard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31336" y="2852928"/>
            <a:ext cx="1243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4-tab interactive dashboard rendered in chat as live HTML.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94576" y="2240280"/>
            <a:ext cx="256032" cy="0"/>
          </a:xfrm>
          <a:prstGeom prst="line">
            <a:avLst/>
          </a:prstGeom>
          <a:noFill/>
          <a:ln w="19050">
            <a:solidFill>
              <a:srgbClr val="BBBBBB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477256" y="1463040"/>
            <a:ext cx="1371600" cy="24688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77256" y="15727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77256" y="2103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50408" y="2450592"/>
            <a:ext cx="1243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/create-viz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50408" y="2852928"/>
            <a:ext cx="1243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charts: bar, line, Poisson fit, era comparison, attendance, teams.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196328" y="1463040"/>
            <a:ext cx="1371600" cy="24688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96328" y="15727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196328" y="2103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69480" y="2450592"/>
            <a:ext cx="1243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/statistical-analysis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269480" y="2852928"/>
            <a:ext cx="1243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hypothesis tests with p-values, regression, and correlation.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4114800"/>
            <a:ext cx="8412480" cy="804672"/>
          </a:xfrm>
          <a:prstGeom prst="rect">
            <a:avLst/>
          </a:prstGeom>
          <a:solidFill>
            <a:srgbClr val="EEF7EE"/>
          </a:solidFill>
          <a:ln w="12700">
            <a:solidFill>
              <a:srgbClr val="C8DF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1879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code written manually.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44622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— data exploration, statistical testing, visualization, and this very PowerPoint — was prompted in plain English inside Claude.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12"/>
          </a:solidFill>
          <a:ln w="12700">
            <a:solidFill>
              <a:srgbClr val="0D1F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tells us about 84 years of football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206240" cy="1554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4206240" cy="5486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45336"/>
            <a:ext cx="77724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453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371600" y="152704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Defences have caught up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per match dropped 45% from the 1930-54 era (4.47) to today (2.47). Tactical evolution — pressing, high-lines, structured defending — fundamentally changed the game.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417320"/>
            <a:ext cx="4206240" cy="1554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417320"/>
            <a:ext cx="420624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83480" y="1545336"/>
            <a:ext cx="77724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5453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852160" y="152704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is a fortress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192024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57.3% home win rate vs 20.4% away is not luck — it's statistically definitive (chi-sq=220). Crowd noise, travel fatigue, and referee subconscious bias all likely contribute.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136392"/>
            <a:ext cx="4206240" cy="1554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136392"/>
            <a:ext cx="4206240" cy="54864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264408"/>
            <a:ext cx="777240" cy="256032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2644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371600" y="324612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Brazil's dominance is unprecedented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639312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 all-time goals, 65.7% win rate across 108 matches. No other nation comes close in both volume and consistency. Germany leads on win rate at 70.8% but with far fewer matches.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3136392"/>
            <a:ext cx="4206240" cy="1554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3136392"/>
            <a:ext cx="42062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83480" y="3264408"/>
            <a:ext cx="77724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2644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852160" y="324612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Bigger isn't always better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3639312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attendance correlates with fewer goals (r=-0.114). High-pressure, high-stakes matches tend to be cagier. The 1994 USA World Cup (avg 68,991 fans) averaged 2.71 goals — above era average.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926080"/>
            <a:ext cx="4114800" cy="4114800"/>
          </a:xfrm>
          <a:prstGeom prst="ellipse">
            <a:avLst/>
          </a:prstGeom>
          <a:solidFill>
            <a:srgbClr val="1E3A24"/>
          </a:solidFill>
          <a:ln w="12700">
            <a:solidFill>
              <a:srgbClr val="1E3A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data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here.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33832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took days now takes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— in plain English.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7315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accomplished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201168" cy="20116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371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852 matches across 84 years of history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920240"/>
            <a:ext cx="201168" cy="20116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920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4 hypothesis tests with full statistical rigour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468880"/>
            <a:ext cx="201168" cy="20116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468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4-tab dashboard with 6 live charts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3017520"/>
            <a:ext cx="201168" cy="20116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0175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Uncovered a 45% decline in goals since the 1930s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3566160"/>
            <a:ext cx="201168" cy="20116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5661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home advantage is not chance — it's structural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4114800"/>
            <a:ext cx="201168" cy="20116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4114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all inside Claude AI, in natural language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4617720"/>
            <a:ext cx="4206240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46177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Claude AI  ·  FIFA World Cup Dataset  ·  1930–2014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FIFA World Cup Data Intelligence</dc:title>
  <dc:subject>PptxGenJS Presentation</dc:subject>
  <dc:creator>Data Analyst</dc:creator>
  <cp:lastModifiedBy>Data Analyst</cp:lastModifiedBy>
  <cp:revision>1</cp:revision>
  <dcterms:created xsi:type="dcterms:W3CDTF">2026-05-28T19:35:42Z</dcterms:created>
  <dcterms:modified xsi:type="dcterms:W3CDTF">2026-05-28T19:35:42Z</dcterms:modified>
</cp:coreProperties>
</file>